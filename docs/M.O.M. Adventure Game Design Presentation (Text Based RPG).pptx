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3" r:id="rId4"/>
  </p:sldMasterIdLst>
  <p:sldIdLst>
    <p:sldId id="256" r:id="rId5"/>
    <p:sldId id="257" r:id="rId6"/>
    <p:sldId id="260" r:id="rId7"/>
    <p:sldId id="258" r:id="rId8"/>
    <p:sldId id="259" r:id="rId9"/>
  </p:sldIdLst>
  <p:sldSz cx="12192000" cy="6858000"/>
  <p:notesSz cx="6858000" cy="9144000"/>
  <p:custDataLst>
    <p:tags r:id="rId1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1" autoAdjust="0"/>
    <p:restoredTop sz="94660"/>
  </p:normalViewPr>
  <p:slideViewPr>
    <p:cSldViewPr snapToGrid="0">
      <p:cViewPr varScale="1">
        <p:scale>
          <a:sx n="72" d="100"/>
          <a:sy n="72" d="100"/>
        </p:scale>
        <p:origin x="81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Santiago" userId="04694fed55b3e942" providerId="LiveId" clId="{FC64EA2F-94A8-4462-A098-31D71CB3C0CB}"/>
    <pc:docChg chg="custSel modSld">
      <pc:chgData name="Daniel Santiago" userId="04694fed55b3e942" providerId="LiveId" clId="{FC64EA2F-94A8-4462-A098-31D71CB3C0CB}" dt="2026-02-09T04:44:35.402" v="36" actId="27636"/>
      <pc:docMkLst>
        <pc:docMk/>
      </pc:docMkLst>
      <pc:sldChg chg="modSp mod">
        <pc:chgData name="Daniel Santiago" userId="04694fed55b3e942" providerId="LiveId" clId="{FC64EA2F-94A8-4462-A098-31D71CB3C0CB}" dt="2026-02-09T04:44:35.402" v="36" actId="27636"/>
        <pc:sldMkLst>
          <pc:docMk/>
          <pc:sldMk cId="243280314" sldId="256"/>
        </pc:sldMkLst>
        <pc:spChg chg="mod">
          <ac:chgData name="Daniel Santiago" userId="04694fed55b3e942" providerId="LiveId" clId="{FC64EA2F-94A8-4462-A098-31D71CB3C0CB}" dt="2026-02-09T04:44:30.443" v="34" actId="20577"/>
          <ac:spMkLst>
            <pc:docMk/>
            <pc:sldMk cId="243280314" sldId="256"/>
            <ac:spMk id="2" creationId="{00000000-0000-0000-0000-000000000000}"/>
          </ac:spMkLst>
        </pc:spChg>
        <pc:spChg chg="mod">
          <ac:chgData name="Daniel Santiago" userId="04694fed55b3e942" providerId="LiveId" clId="{FC64EA2F-94A8-4462-A098-31D71CB3C0CB}" dt="2026-02-09T04:44:35.402" v="36" actId="27636"/>
          <ac:spMkLst>
            <pc:docMk/>
            <pc:sldMk cId="243280314"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9622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48391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6992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2/8/2026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1482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2/8/2026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8466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2/8/2026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68209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2/8/2026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89980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2/8/2026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88091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2/8/2026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4392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756820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148383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4428302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862193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1118398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2811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2/8/2026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96180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CBC1C18-307B-4F68-A007-B5B542270E8D}" type="datetimeFigureOut">
              <a:rPr lang="en-US" smtClean="0"/>
              <a:t>2/8/2026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17016815"/>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M.O.M Text Based Game</a:t>
            </a:r>
            <a:br>
              <a:rPr lang="en-US" dirty="0"/>
            </a:br>
            <a:r>
              <a:rPr lang="en-US" dirty="0"/>
              <a:t>Presentation</a:t>
            </a:r>
          </a:p>
        </p:txBody>
      </p:sp>
      <p:sp>
        <p:nvSpPr>
          <p:cNvPr id="3" name="Subtitle 2"/>
          <p:cNvSpPr>
            <a:spLocks noGrp="1"/>
          </p:cNvSpPr>
          <p:nvPr>
            <p:ph type="subTitle" idx="1"/>
          </p:nvPr>
        </p:nvSpPr>
        <p:spPr>
          <a:xfrm>
            <a:off x="1507066" y="4050833"/>
            <a:ext cx="7941733" cy="1646302"/>
          </a:xfrm>
        </p:spPr>
        <p:txBody>
          <a:bodyPr>
            <a:normAutofit/>
          </a:bodyPr>
          <a:lstStyle/>
          <a:p>
            <a:r>
              <a:rPr lang="en-US" dirty="0"/>
              <a:t> </a:t>
            </a:r>
          </a:p>
          <a:p>
            <a:r>
              <a:rPr lang="en-US" dirty="0"/>
              <a:t>Daniel Santiago</a:t>
            </a:r>
          </a:p>
          <a:p>
            <a:r>
              <a:rPr lang="en-US" dirty="0"/>
              <a:t>4 April 2021</a:t>
            </a:r>
          </a:p>
          <a:p>
            <a:endParaRPr lang="en-US" dirty="0"/>
          </a:p>
          <a:p>
            <a:endParaRPr lang="en-US" dirty="0"/>
          </a:p>
        </p:txBody>
      </p:sp>
    </p:spTree>
    <p:extLst>
      <p:ext uri="{BB962C8B-B14F-4D97-AF65-F5344CB8AC3E}">
        <p14:creationId xmlns:p14="http://schemas.microsoft.com/office/powerpoint/2010/main" val="243280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Storyboard: Description</a:t>
            </a:r>
          </a:p>
        </p:txBody>
      </p:sp>
      <p:sp>
        <p:nvSpPr>
          <p:cNvPr id="3" name="Content Placeholder 2"/>
          <p:cNvSpPr>
            <a:spLocks noGrp="1"/>
          </p:cNvSpPr>
          <p:nvPr>
            <p:ph idx="1"/>
          </p:nvPr>
        </p:nvSpPr>
        <p:spPr/>
        <p:txBody>
          <a:bodyPr/>
          <a:lstStyle/>
          <a:p>
            <a:pPr marL="0" indent="0">
              <a:buNone/>
            </a:pPr>
            <a:r>
              <a:rPr lang="en-US" dirty="0"/>
              <a:t>This is my game about a hero named </a:t>
            </a:r>
            <a:r>
              <a:rPr lang="en-US" dirty="0" err="1"/>
              <a:t>Syrus</a:t>
            </a:r>
            <a:r>
              <a:rPr lang="en-US" dirty="0"/>
              <a:t>, who is a child teenager that plays video games to save the world, or at least in his head. The game starts with </a:t>
            </a:r>
            <a:r>
              <a:rPr lang="en-US" dirty="0" err="1"/>
              <a:t>Syrus</a:t>
            </a:r>
            <a:r>
              <a:rPr lang="en-US" dirty="0"/>
              <a:t> coming home from school. He wants to always right away get started saving the world; But in the dark trenches of the underworld. There is a hideous, disgusting beast dame that is always in his way.  They call it the Maddened Opinionated Mephistophelian or for short M.O.M.   There is a setlist of quests that need to be completed before he can save the world! And that is called.. cleaning the house…To finish the game, our hero needs to collects all of his belongings and bring them to this M.O.M. in the underworld or as normies call it basement and then…only </a:t>
            </a:r>
            <a:r>
              <a:rPr lang="en-US" dirty="0" err="1"/>
              <a:t>then..will</a:t>
            </a:r>
            <a:r>
              <a:rPr lang="en-US" dirty="0"/>
              <a:t> he be able to save the world before its too late.</a:t>
            </a:r>
          </a:p>
          <a:p>
            <a:pPr marL="0" indent="0">
              <a:buNone/>
            </a:pPr>
            <a:r>
              <a:rPr lang="en-US" dirty="0"/>
              <a:t>Objective: </a:t>
            </a:r>
            <a:r>
              <a:rPr lang="en-US" dirty="0" err="1"/>
              <a:t>Syrus</a:t>
            </a:r>
            <a:r>
              <a:rPr lang="en-US" dirty="0"/>
              <a:t> needs to win over M.O.M.’s approval before he can play video games and save the world. Other wise he is grounded and the world will end.</a:t>
            </a:r>
          </a:p>
        </p:txBody>
      </p:sp>
    </p:spTree>
    <p:extLst>
      <p:ext uri="{BB962C8B-B14F-4D97-AF65-F5344CB8AC3E}">
        <p14:creationId xmlns:p14="http://schemas.microsoft.com/office/powerpoint/2010/main" val="3054786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938" y="391668"/>
            <a:ext cx="7958331" cy="1077229"/>
          </a:xfrm>
        </p:spPr>
        <p:txBody>
          <a:bodyPr>
            <a:normAutofit/>
          </a:bodyPr>
          <a:lstStyle/>
          <a:p>
            <a:r>
              <a:rPr lang="en-US" sz="4000" dirty="0"/>
              <a:t>Storyboard: Map</a:t>
            </a:r>
          </a:p>
        </p:txBody>
      </p:sp>
      <p:sp>
        <p:nvSpPr>
          <p:cNvPr id="5" name="Text Box 5"/>
          <p:cNvSpPr txBox="1"/>
          <p:nvPr/>
        </p:nvSpPr>
        <p:spPr>
          <a:xfrm>
            <a:off x="4525464" y="1079136"/>
            <a:ext cx="1567180" cy="9144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bathroom</a:t>
            </a:r>
          </a:p>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Item: Left Sock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 Box 6"/>
          <p:cNvSpPr txBox="1"/>
          <p:nvPr/>
        </p:nvSpPr>
        <p:spPr>
          <a:xfrm>
            <a:off x="7143569" y="1084216"/>
            <a:ext cx="1567180" cy="9144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Brothers room</a:t>
            </a: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Item: Shirt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 Box 7"/>
          <p:cNvSpPr txBox="1"/>
          <p:nvPr/>
        </p:nvSpPr>
        <p:spPr>
          <a:xfrm>
            <a:off x="7154364" y="2768871"/>
            <a:ext cx="1567180" cy="9144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dirty="0">
                <a:latin typeface="Calibri" panose="020F0502020204030204" pitchFamily="34" charset="0"/>
                <a:ea typeface="Calibri" panose="020F0502020204030204" pitchFamily="34" charset="0"/>
                <a:cs typeface="Times New Roman" panose="02020603050405020304" pitchFamily="18" charset="0"/>
              </a:rPr>
              <a:t>B</a:t>
            </a:r>
            <a:r>
              <a:rPr lang="en-US" sz="1200" dirty="0">
                <a:effectLst/>
                <a:latin typeface="Calibri" panose="020F0502020204030204" pitchFamily="34" charset="0"/>
                <a:ea typeface="Calibri" panose="020F0502020204030204" pitchFamily="34" charset="0"/>
                <a:cs typeface="Times New Roman" panose="02020603050405020304" pitchFamily="18" charset="0"/>
              </a:rPr>
              <a:t>asement</a:t>
            </a:r>
          </a:p>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M.O.M.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 Box 8"/>
          <p:cNvSpPr txBox="1"/>
          <p:nvPr/>
        </p:nvSpPr>
        <p:spPr>
          <a:xfrm>
            <a:off x="7114890" y="4231939"/>
            <a:ext cx="1567180" cy="9144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living room</a:t>
            </a:r>
          </a:p>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Item: Under Shirt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9"/>
          <p:cNvSpPr txBox="1"/>
          <p:nvPr/>
        </p:nvSpPr>
        <p:spPr>
          <a:xfrm>
            <a:off x="7175954" y="5771151"/>
            <a:ext cx="1567180" cy="9144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kitchen</a:t>
            </a:r>
          </a:p>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Item: Sweater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10"/>
          <p:cNvSpPr txBox="1"/>
          <p:nvPr/>
        </p:nvSpPr>
        <p:spPr>
          <a:xfrm>
            <a:off x="2501719" y="3381646"/>
            <a:ext cx="1306195" cy="9144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Porch </a:t>
            </a:r>
          </a:p>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Start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11"/>
          <p:cNvSpPr txBox="1"/>
          <p:nvPr/>
        </p:nvSpPr>
        <p:spPr>
          <a:xfrm>
            <a:off x="4541974" y="5774326"/>
            <a:ext cx="1567180" cy="9144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dining room</a:t>
            </a:r>
          </a:p>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Item: Right Sock</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12"/>
          <p:cNvSpPr txBox="1"/>
          <p:nvPr/>
        </p:nvSpPr>
        <p:spPr>
          <a:xfrm>
            <a:off x="4743254" y="2894268"/>
            <a:ext cx="1305560" cy="202438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Mud room</a:t>
            </a:r>
          </a:p>
          <a:p>
            <a:pPr marL="0" marR="0" algn="ctr">
              <a:lnSpc>
                <a:spcPct val="107000"/>
              </a:lnSpc>
              <a:spcBef>
                <a:spcPts val="0"/>
              </a:spcBef>
              <a:spcAft>
                <a:spcPts val="800"/>
              </a:spcAft>
            </a:pPr>
            <a:r>
              <a:rPr lang="en-US" sz="1200" dirty="0">
                <a:latin typeface="Calibri" panose="020F0502020204030204" pitchFamily="34" charset="0"/>
                <a:ea typeface="Calibri" panose="020F0502020204030204" pitchFamily="34" charset="0"/>
                <a:cs typeface="Times New Roman" panose="02020603050405020304" pitchFamily="18" charset="0"/>
              </a:rPr>
              <a:t>Item: Underwear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Arrow Connector 12"/>
          <p:cNvCxnSpPr/>
          <p:nvPr/>
        </p:nvCxnSpPr>
        <p:spPr>
          <a:xfrm flipH="1">
            <a:off x="6098359" y="4717051"/>
            <a:ext cx="1044575" cy="0"/>
          </a:xfrm>
          <a:prstGeom prst="straightConnector1">
            <a:avLst/>
          </a:prstGeom>
          <a:ln>
            <a:noFill/>
            <a:tailEnd type="triangle"/>
          </a:ln>
        </p:spPr>
        <p:style>
          <a:lnRef idx="1">
            <a:schemeClr val="dk1"/>
          </a:lnRef>
          <a:fillRef idx="0">
            <a:schemeClr val="dk1"/>
          </a:fillRef>
          <a:effectRef idx="0">
            <a:schemeClr val="dk1"/>
          </a:effectRef>
          <a:fontRef idx="minor">
            <a:schemeClr val="tx1"/>
          </a:fontRef>
        </p:style>
      </p:cxnSp>
      <p:grpSp>
        <p:nvGrpSpPr>
          <p:cNvPr id="14" name="Group 13"/>
          <p:cNvGrpSpPr/>
          <p:nvPr/>
        </p:nvGrpSpPr>
        <p:grpSpPr>
          <a:xfrm>
            <a:off x="4542609" y="1985916"/>
            <a:ext cx="554990" cy="914400"/>
            <a:chOff x="0" y="0"/>
            <a:chExt cx="555171" cy="914400"/>
          </a:xfrm>
        </p:grpSpPr>
        <p:cxnSp>
          <p:nvCxnSpPr>
            <p:cNvPr id="15" name="Straight Arrow Connector 14"/>
            <p:cNvCxnSpPr/>
            <p:nvPr/>
          </p:nvCxnSpPr>
          <p:spPr>
            <a:xfrm flipV="1">
              <a:off x="555171" y="0"/>
              <a:ext cx="0" cy="914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Text Box 31"/>
            <p:cNvSpPr txBox="1"/>
            <p:nvPr/>
          </p:nvSpPr>
          <p:spPr>
            <a:xfrm flipH="1">
              <a:off x="0" y="326572"/>
              <a:ext cx="555171" cy="3102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North</a:t>
              </a:r>
            </a:p>
          </p:txBody>
        </p:sp>
      </p:grpSp>
      <p:grpSp>
        <p:nvGrpSpPr>
          <p:cNvPr id="17" name="Group 16"/>
          <p:cNvGrpSpPr/>
          <p:nvPr/>
        </p:nvGrpSpPr>
        <p:grpSpPr>
          <a:xfrm>
            <a:off x="4428309" y="4941206"/>
            <a:ext cx="571500" cy="832485"/>
            <a:chOff x="0" y="0"/>
            <a:chExt cx="571500" cy="832757"/>
          </a:xfrm>
        </p:grpSpPr>
        <p:cxnSp>
          <p:nvCxnSpPr>
            <p:cNvPr id="18" name="Straight Arrow Connector 17"/>
            <p:cNvCxnSpPr/>
            <p:nvPr/>
          </p:nvCxnSpPr>
          <p:spPr>
            <a:xfrm flipV="1">
              <a:off x="571500" y="0"/>
              <a:ext cx="0" cy="8327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 Box 32"/>
            <p:cNvSpPr txBox="1"/>
            <p:nvPr/>
          </p:nvSpPr>
          <p:spPr>
            <a:xfrm flipH="1">
              <a:off x="0" y="326571"/>
              <a:ext cx="555171" cy="3102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North</a:t>
              </a:r>
            </a:p>
          </p:txBody>
        </p:sp>
      </p:grpSp>
      <p:grpSp>
        <p:nvGrpSpPr>
          <p:cNvPr id="20" name="Group 19"/>
          <p:cNvGrpSpPr/>
          <p:nvPr/>
        </p:nvGrpSpPr>
        <p:grpSpPr>
          <a:xfrm>
            <a:off x="7083879" y="3683906"/>
            <a:ext cx="576580" cy="554990"/>
            <a:chOff x="0" y="0"/>
            <a:chExt cx="576943" cy="555171"/>
          </a:xfrm>
        </p:grpSpPr>
        <p:cxnSp>
          <p:nvCxnSpPr>
            <p:cNvPr id="21" name="Straight Arrow Connector 20"/>
            <p:cNvCxnSpPr/>
            <p:nvPr/>
          </p:nvCxnSpPr>
          <p:spPr>
            <a:xfrm flipV="1">
              <a:off x="576943" y="0"/>
              <a:ext cx="0" cy="5551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 Box 33"/>
            <p:cNvSpPr txBox="1"/>
            <p:nvPr/>
          </p:nvSpPr>
          <p:spPr>
            <a:xfrm flipH="1">
              <a:off x="0" y="152400"/>
              <a:ext cx="555171" cy="3102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North</a:t>
              </a:r>
            </a:p>
          </p:txBody>
        </p:sp>
      </p:grpSp>
      <p:grpSp>
        <p:nvGrpSpPr>
          <p:cNvPr id="23" name="Group 22"/>
          <p:cNvGrpSpPr/>
          <p:nvPr/>
        </p:nvGrpSpPr>
        <p:grpSpPr>
          <a:xfrm>
            <a:off x="5701484" y="1985916"/>
            <a:ext cx="587375" cy="914400"/>
            <a:chOff x="0" y="0"/>
            <a:chExt cx="587828" cy="914400"/>
          </a:xfrm>
        </p:grpSpPr>
        <p:cxnSp>
          <p:nvCxnSpPr>
            <p:cNvPr id="24" name="Straight Arrow Connector 23"/>
            <p:cNvCxnSpPr/>
            <p:nvPr/>
          </p:nvCxnSpPr>
          <p:spPr>
            <a:xfrm>
              <a:off x="0" y="0"/>
              <a:ext cx="0" cy="914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 Box 34"/>
            <p:cNvSpPr txBox="1"/>
            <p:nvPr/>
          </p:nvSpPr>
          <p:spPr>
            <a:xfrm flipH="1">
              <a:off x="32657" y="326572"/>
              <a:ext cx="555171" cy="3102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South</a:t>
              </a:r>
            </a:p>
          </p:txBody>
        </p:sp>
      </p:grpSp>
      <p:grpSp>
        <p:nvGrpSpPr>
          <p:cNvPr id="26" name="Group 25"/>
          <p:cNvGrpSpPr/>
          <p:nvPr/>
        </p:nvGrpSpPr>
        <p:grpSpPr>
          <a:xfrm>
            <a:off x="5669099" y="4925331"/>
            <a:ext cx="587375" cy="848995"/>
            <a:chOff x="0" y="0"/>
            <a:chExt cx="587829" cy="849449"/>
          </a:xfrm>
        </p:grpSpPr>
        <p:cxnSp>
          <p:nvCxnSpPr>
            <p:cNvPr id="27" name="Straight Arrow Connector 26"/>
            <p:cNvCxnSpPr/>
            <p:nvPr/>
          </p:nvCxnSpPr>
          <p:spPr>
            <a:xfrm>
              <a:off x="0" y="0"/>
              <a:ext cx="0" cy="8494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Text Box 35"/>
            <p:cNvSpPr txBox="1"/>
            <p:nvPr/>
          </p:nvSpPr>
          <p:spPr>
            <a:xfrm flipH="1">
              <a:off x="32658" y="326571"/>
              <a:ext cx="555171" cy="3102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South</a:t>
              </a:r>
            </a:p>
          </p:txBody>
        </p:sp>
      </p:grpSp>
      <p:grpSp>
        <p:nvGrpSpPr>
          <p:cNvPr id="29" name="Group 28"/>
          <p:cNvGrpSpPr/>
          <p:nvPr/>
        </p:nvGrpSpPr>
        <p:grpSpPr>
          <a:xfrm>
            <a:off x="8183699" y="3683906"/>
            <a:ext cx="587375" cy="554990"/>
            <a:chOff x="0" y="0"/>
            <a:chExt cx="587829" cy="555171"/>
          </a:xfrm>
        </p:grpSpPr>
        <p:cxnSp>
          <p:nvCxnSpPr>
            <p:cNvPr id="30" name="Straight Arrow Connector 29"/>
            <p:cNvCxnSpPr/>
            <p:nvPr/>
          </p:nvCxnSpPr>
          <p:spPr>
            <a:xfrm>
              <a:off x="0" y="0"/>
              <a:ext cx="0" cy="5551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 Box 36"/>
            <p:cNvSpPr txBox="1"/>
            <p:nvPr/>
          </p:nvSpPr>
          <p:spPr>
            <a:xfrm flipH="1">
              <a:off x="32658" y="152400"/>
              <a:ext cx="555171" cy="310242"/>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South</a:t>
              </a:r>
            </a:p>
          </p:txBody>
        </p:sp>
      </p:grpSp>
      <p:grpSp>
        <p:nvGrpSpPr>
          <p:cNvPr id="32" name="Group 31"/>
          <p:cNvGrpSpPr/>
          <p:nvPr/>
        </p:nvGrpSpPr>
        <p:grpSpPr>
          <a:xfrm>
            <a:off x="6093279" y="1071516"/>
            <a:ext cx="1045210" cy="244475"/>
            <a:chOff x="0" y="0"/>
            <a:chExt cx="1045392" cy="244929"/>
          </a:xfrm>
        </p:grpSpPr>
        <p:cxnSp>
          <p:nvCxnSpPr>
            <p:cNvPr id="33" name="Straight Arrow Connector 32"/>
            <p:cNvCxnSpPr/>
            <p:nvPr/>
          </p:nvCxnSpPr>
          <p:spPr>
            <a:xfrm>
              <a:off x="0" y="244929"/>
              <a:ext cx="1045392"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
          <p:nvSpPr>
            <p:cNvPr id="34" name="Text Box 37"/>
            <p:cNvSpPr txBox="1"/>
            <p:nvPr/>
          </p:nvSpPr>
          <p:spPr>
            <a:xfrm flipH="1">
              <a:off x="277586" y="0"/>
              <a:ext cx="555171"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East</a:t>
              </a:r>
            </a:p>
          </p:txBody>
        </p:sp>
      </p:grpSp>
      <p:grpSp>
        <p:nvGrpSpPr>
          <p:cNvPr id="35" name="Group 34"/>
          <p:cNvGrpSpPr/>
          <p:nvPr/>
        </p:nvGrpSpPr>
        <p:grpSpPr>
          <a:xfrm>
            <a:off x="6104709" y="4206511"/>
            <a:ext cx="1045210" cy="239395"/>
            <a:chOff x="0" y="0"/>
            <a:chExt cx="1045392" cy="239486"/>
          </a:xfrm>
        </p:grpSpPr>
        <p:cxnSp>
          <p:nvCxnSpPr>
            <p:cNvPr id="36" name="Straight Arrow Connector 35"/>
            <p:cNvCxnSpPr/>
            <p:nvPr/>
          </p:nvCxnSpPr>
          <p:spPr>
            <a:xfrm>
              <a:off x="0" y="239486"/>
              <a:ext cx="1045392"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
          <p:nvSpPr>
            <p:cNvPr id="37" name="Text Box 40"/>
            <p:cNvSpPr txBox="1"/>
            <p:nvPr/>
          </p:nvSpPr>
          <p:spPr>
            <a:xfrm flipH="1">
              <a:off x="304800" y="0"/>
              <a:ext cx="555171"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East</a:t>
              </a:r>
            </a:p>
          </p:txBody>
        </p:sp>
      </p:grpSp>
      <p:grpSp>
        <p:nvGrpSpPr>
          <p:cNvPr id="38" name="Group 37"/>
          <p:cNvGrpSpPr/>
          <p:nvPr/>
        </p:nvGrpSpPr>
        <p:grpSpPr>
          <a:xfrm>
            <a:off x="6142809" y="5872116"/>
            <a:ext cx="1045210" cy="228600"/>
            <a:chOff x="0" y="0"/>
            <a:chExt cx="1045392" cy="228600"/>
          </a:xfrm>
        </p:grpSpPr>
        <p:cxnSp>
          <p:nvCxnSpPr>
            <p:cNvPr id="39" name="Straight Arrow Connector 38"/>
            <p:cNvCxnSpPr/>
            <p:nvPr/>
          </p:nvCxnSpPr>
          <p:spPr>
            <a:xfrm>
              <a:off x="0" y="228600"/>
              <a:ext cx="1045392"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sp>
          <p:nvSpPr>
            <p:cNvPr id="40" name="Text Box 41"/>
            <p:cNvSpPr txBox="1"/>
            <p:nvPr/>
          </p:nvSpPr>
          <p:spPr>
            <a:xfrm flipH="1">
              <a:off x="277586" y="0"/>
              <a:ext cx="555171"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East</a:t>
              </a:r>
            </a:p>
          </p:txBody>
        </p:sp>
      </p:grpSp>
      <p:grpSp>
        <p:nvGrpSpPr>
          <p:cNvPr id="41" name="Group 40"/>
          <p:cNvGrpSpPr/>
          <p:nvPr/>
        </p:nvGrpSpPr>
        <p:grpSpPr>
          <a:xfrm>
            <a:off x="3807279" y="3455306"/>
            <a:ext cx="979805" cy="228600"/>
            <a:chOff x="0" y="0"/>
            <a:chExt cx="979805" cy="228600"/>
          </a:xfrm>
        </p:grpSpPr>
        <p:cxnSp>
          <p:nvCxnSpPr>
            <p:cNvPr id="42" name="Straight Arrow Connector 41"/>
            <p:cNvCxnSpPr/>
            <p:nvPr/>
          </p:nvCxnSpPr>
          <p:spPr>
            <a:xfrm>
              <a:off x="0" y="228600"/>
              <a:ext cx="97980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Text Box 42"/>
            <p:cNvSpPr txBox="1"/>
            <p:nvPr/>
          </p:nvSpPr>
          <p:spPr>
            <a:xfrm flipH="1">
              <a:off x="244929" y="0"/>
              <a:ext cx="555171"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East</a:t>
              </a:r>
            </a:p>
          </p:txBody>
        </p:sp>
      </p:grpSp>
      <p:grpSp>
        <p:nvGrpSpPr>
          <p:cNvPr id="44" name="Group 43"/>
          <p:cNvGrpSpPr/>
          <p:nvPr/>
        </p:nvGrpSpPr>
        <p:grpSpPr>
          <a:xfrm>
            <a:off x="6093279" y="1740806"/>
            <a:ext cx="1044575" cy="260985"/>
            <a:chOff x="0" y="0"/>
            <a:chExt cx="1045029" cy="261257"/>
          </a:xfrm>
        </p:grpSpPr>
        <p:cxnSp>
          <p:nvCxnSpPr>
            <p:cNvPr id="45" name="Straight Arrow Connector 44"/>
            <p:cNvCxnSpPr/>
            <p:nvPr/>
          </p:nvCxnSpPr>
          <p:spPr>
            <a:xfrm flipH="1">
              <a:off x="0" y="0"/>
              <a:ext cx="10450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Text Box 43"/>
            <p:cNvSpPr txBox="1"/>
            <p:nvPr/>
          </p:nvSpPr>
          <p:spPr>
            <a:xfrm flipH="1">
              <a:off x="277586" y="32657"/>
              <a:ext cx="555171"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West</a:t>
              </a:r>
            </a:p>
          </p:txBody>
        </p:sp>
      </p:grpSp>
      <p:grpSp>
        <p:nvGrpSpPr>
          <p:cNvPr id="47" name="Group 46"/>
          <p:cNvGrpSpPr/>
          <p:nvPr/>
        </p:nvGrpSpPr>
        <p:grpSpPr>
          <a:xfrm>
            <a:off x="6126299" y="6476001"/>
            <a:ext cx="1044575" cy="260985"/>
            <a:chOff x="0" y="0"/>
            <a:chExt cx="1045029" cy="261257"/>
          </a:xfrm>
        </p:grpSpPr>
        <p:cxnSp>
          <p:nvCxnSpPr>
            <p:cNvPr id="48" name="Straight Arrow Connector 47"/>
            <p:cNvCxnSpPr/>
            <p:nvPr/>
          </p:nvCxnSpPr>
          <p:spPr>
            <a:xfrm flipH="1">
              <a:off x="0" y="0"/>
              <a:ext cx="10450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Text Box 44"/>
            <p:cNvSpPr txBox="1"/>
            <p:nvPr/>
          </p:nvSpPr>
          <p:spPr>
            <a:xfrm flipH="1">
              <a:off x="244929" y="32657"/>
              <a:ext cx="555171"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West</a:t>
              </a:r>
            </a:p>
          </p:txBody>
        </p:sp>
      </p:grpSp>
      <p:grpSp>
        <p:nvGrpSpPr>
          <p:cNvPr id="50" name="Group 49"/>
          <p:cNvGrpSpPr/>
          <p:nvPr/>
        </p:nvGrpSpPr>
        <p:grpSpPr>
          <a:xfrm>
            <a:off x="6104709" y="4783726"/>
            <a:ext cx="1044575" cy="271780"/>
            <a:chOff x="0" y="0"/>
            <a:chExt cx="1045029" cy="272143"/>
          </a:xfrm>
        </p:grpSpPr>
        <p:cxnSp>
          <p:nvCxnSpPr>
            <p:cNvPr id="51" name="Straight Arrow Connector 50"/>
            <p:cNvCxnSpPr/>
            <p:nvPr/>
          </p:nvCxnSpPr>
          <p:spPr>
            <a:xfrm flipH="1">
              <a:off x="0" y="0"/>
              <a:ext cx="104502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 Box 46"/>
            <p:cNvSpPr txBox="1"/>
            <p:nvPr/>
          </p:nvSpPr>
          <p:spPr>
            <a:xfrm flipH="1">
              <a:off x="272143" y="43543"/>
              <a:ext cx="554990"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West</a:t>
              </a:r>
            </a:p>
          </p:txBody>
        </p:sp>
      </p:grpSp>
      <p:grpSp>
        <p:nvGrpSpPr>
          <p:cNvPr id="53" name="Group 52"/>
          <p:cNvGrpSpPr/>
          <p:nvPr/>
        </p:nvGrpSpPr>
        <p:grpSpPr>
          <a:xfrm>
            <a:off x="3807279" y="4141106"/>
            <a:ext cx="979170" cy="244475"/>
            <a:chOff x="0" y="0"/>
            <a:chExt cx="979715" cy="244928"/>
          </a:xfrm>
        </p:grpSpPr>
        <p:cxnSp>
          <p:nvCxnSpPr>
            <p:cNvPr id="54" name="Straight Arrow Connector 53"/>
            <p:cNvCxnSpPr/>
            <p:nvPr/>
          </p:nvCxnSpPr>
          <p:spPr>
            <a:xfrm flipH="1">
              <a:off x="0" y="0"/>
              <a:ext cx="9797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5" name="Text Box 47"/>
            <p:cNvSpPr txBox="1"/>
            <p:nvPr/>
          </p:nvSpPr>
          <p:spPr>
            <a:xfrm flipH="1">
              <a:off x="212272" y="16328"/>
              <a:ext cx="555171" cy="2286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100">
                  <a:effectLst/>
                  <a:latin typeface="Calibri" panose="020F0502020204030204" pitchFamily="34" charset="0"/>
                  <a:ea typeface="Calibri" panose="020F0502020204030204" pitchFamily="34" charset="0"/>
                  <a:cs typeface="Times New Roman" panose="02020603050405020304" pitchFamily="18" charset="0"/>
                </a:rPr>
                <a:t>West</a:t>
              </a:r>
            </a:p>
          </p:txBody>
        </p:sp>
      </p:grpSp>
      <p:sp>
        <p:nvSpPr>
          <p:cNvPr id="56" name="Rectangle 52"/>
          <p:cNvSpPr>
            <a:spLocks noChangeArrowheads="1"/>
          </p:cNvSpPr>
          <p:nvPr/>
        </p:nvSpPr>
        <p:spPr bwMode="auto">
          <a:xfrm>
            <a:off x="2142309" y="-168628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7" name="Rectangle 75"/>
          <p:cNvSpPr>
            <a:spLocks noChangeArrowheads="1"/>
          </p:cNvSpPr>
          <p:nvPr/>
        </p:nvSpPr>
        <p:spPr bwMode="auto">
          <a:xfrm>
            <a:off x="2142309" y="-122908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br>
            <a:endParaRPr kumimoji="0" lang="en-US" altLang="en-US" sz="11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2667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Pseudocode or Flowchart: </a:t>
            </a:r>
            <a:br>
              <a:rPr lang="en-US" sz="4000" dirty="0"/>
            </a:br>
            <a:r>
              <a:rPr lang="en-US" sz="4000" dirty="0"/>
              <a:t>Move Between Rooms</a:t>
            </a:r>
          </a:p>
        </p:txBody>
      </p:sp>
      <p:sp>
        <p:nvSpPr>
          <p:cNvPr id="5" name="Flowchart: Data 4">
            <a:extLst>
              <a:ext uri="{FF2B5EF4-FFF2-40B4-BE49-F238E27FC236}">
                <a16:creationId xmlns:a16="http://schemas.microsoft.com/office/drawing/2014/main" id="{BFD2CD83-1B07-46F6-99B7-49B8953AA279}"/>
              </a:ext>
            </a:extLst>
          </p:cNvPr>
          <p:cNvSpPr/>
          <p:nvPr/>
        </p:nvSpPr>
        <p:spPr>
          <a:xfrm>
            <a:off x="3208629" y="3028347"/>
            <a:ext cx="2084552" cy="27155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Input cord</a:t>
            </a:r>
          </a:p>
        </p:txBody>
      </p:sp>
      <p:sp>
        <p:nvSpPr>
          <p:cNvPr id="6" name="Flowchart: Decision 5">
            <a:extLst>
              <a:ext uri="{FF2B5EF4-FFF2-40B4-BE49-F238E27FC236}">
                <a16:creationId xmlns:a16="http://schemas.microsoft.com/office/drawing/2014/main" id="{CF4AD5F0-92D7-4DDA-B56F-03851018BB4C}"/>
              </a:ext>
            </a:extLst>
          </p:cNvPr>
          <p:cNvSpPr/>
          <p:nvPr/>
        </p:nvSpPr>
        <p:spPr>
          <a:xfrm>
            <a:off x="3346021" y="3428210"/>
            <a:ext cx="1809770" cy="439881"/>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Valid?</a:t>
            </a:r>
          </a:p>
        </p:txBody>
      </p:sp>
      <p:sp>
        <p:nvSpPr>
          <p:cNvPr id="7" name="Flowchart: Process 6">
            <a:extLst>
              <a:ext uri="{FF2B5EF4-FFF2-40B4-BE49-F238E27FC236}">
                <a16:creationId xmlns:a16="http://schemas.microsoft.com/office/drawing/2014/main" id="{989A5590-0D37-45C5-9036-AB89862DAF9B}"/>
              </a:ext>
            </a:extLst>
          </p:cNvPr>
          <p:cNvSpPr/>
          <p:nvPr/>
        </p:nvSpPr>
        <p:spPr>
          <a:xfrm>
            <a:off x="3658703" y="2673984"/>
            <a:ext cx="1184404" cy="23058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Ask for cord</a:t>
            </a:r>
          </a:p>
        </p:txBody>
      </p:sp>
      <p:sp>
        <p:nvSpPr>
          <p:cNvPr id="8" name="Flowchart: Process 7">
            <a:extLst>
              <a:ext uri="{FF2B5EF4-FFF2-40B4-BE49-F238E27FC236}">
                <a16:creationId xmlns:a16="http://schemas.microsoft.com/office/drawing/2014/main" id="{1B08A251-A119-49D9-BEC6-F66C0601372E}"/>
              </a:ext>
            </a:extLst>
          </p:cNvPr>
          <p:cNvSpPr/>
          <p:nvPr/>
        </p:nvSpPr>
        <p:spPr>
          <a:xfrm>
            <a:off x="3556977" y="3985284"/>
            <a:ext cx="1387857" cy="21994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Next Room</a:t>
            </a:r>
          </a:p>
        </p:txBody>
      </p:sp>
      <p:sp>
        <p:nvSpPr>
          <p:cNvPr id="41" name="Flowchart: Process 40">
            <a:extLst>
              <a:ext uri="{FF2B5EF4-FFF2-40B4-BE49-F238E27FC236}">
                <a16:creationId xmlns:a16="http://schemas.microsoft.com/office/drawing/2014/main" id="{953390A1-04CA-4F5F-8EE8-5A99669DABBE}"/>
              </a:ext>
            </a:extLst>
          </p:cNvPr>
          <p:cNvSpPr/>
          <p:nvPr/>
        </p:nvSpPr>
        <p:spPr>
          <a:xfrm>
            <a:off x="3570314" y="4886376"/>
            <a:ext cx="1361185" cy="2305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Ask Action</a:t>
            </a:r>
          </a:p>
        </p:txBody>
      </p:sp>
      <p:sp>
        <p:nvSpPr>
          <p:cNvPr id="54" name="Flowchart: Process 53">
            <a:extLst>
              <a:ext uri="{FF2B5EF4-FFF2-40B4-BE49-F238E27FC236}">
                <a16:creationId xmlns:a16="http://schemas.microsoft.com/office/drawing/2014/main" id="{F7C0CCCE-9839-4D95-AA25-F8571AC8DBFC}"/>
              </a:ext>
            </a:extLst>
          </p:cNvPr>
          <p:cNvSpPr/>
          <p:nvPr/>
        </p:nvSpPr>
        <p:spPr>
          <a:xfrm>
            <a:off x="3364558" y="5798107"/>
            <a:ext cx="1772693" cy="2305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Perform Action</a:t>
            </a:r>
          </a:p>
        </p:txBody>
      </p:sp>
      <p:sp>
        <p:nvSpPr>
          <p:cNvPr id="60" name="Flowchart: Terminator 59">
            <a:extLst>
              <a:ext uri="{FF2B5EF4-FFF2-40B4-BE49-F238E27FC236}">
                <a16:creationId xmlns:a16="http://schemas.microsoft.com/office/drawing/2014/main" id="{F8366A3D-A6CE-4A9A-BA8D-E3FBA3B72C4F}"/>
              </a:ext>
            </a:extLst>
          </p:cNvPr>
          <p:cNvSpPr/>
          <p:nvPr/>
        </p:nvSpPr>
        <p:spPr>
          <a:xfrm>
            <a:off x="3838733" y="2328087"/>
            <a:ext cx="824344" cy="230583"/>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Start</a:t>
            </a:r>
          </a:p>
        </p:txBody>
      </p:sp>
      <p:sp>
        <p:nvSpPr>
          <p:cNvPr id="145" name="Flowchart: Decision 144">
            <a:extLst>
              <a:ext uri="{FF2B5EF4-FFF2-40B4-BE49-F238E27FC236}">
                <a16:creationId xmlns:a16="http://schemas.microsoft.com/office/drawing/2014/main" id="{598B5BE5-D79A-4BE3-8208-A6BD74A16378}"/>
              </a:ext>
            </a:extLst>
          </p:cNvPr>
          <p:cNvSpPr/>
          <p:nvPr/>
        </p:nvSpPr>
        <p:spPr>
          <a:xfrm>
            <a:off x="3346021" y="5237592"/>
            <a:ext cx="1809770" cy="439881"/>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Valid?</a:t>
            </a:r>
          </a:p>
        </p:txBody>
      </p:sp>
      <p:sp>
        <p:nvSpPr>
          <p:cNvPr id="146" name="Flowchart: Decision 145">
            <a:extLst>
              <a:ext uri="{FF2B5EF4-FFF2-40B4-BE49-F238E27FC236}">
                <a16:creationId xmlns:a16="http://schemas.microsoft.com/office/drawing/2014/main" id="{2D0D40FB-C201-4118-A5E3-5D860E8C352B}"/>
              </a:ext>
            </a:extLst>
          </p:cNvPr>
          <p:cNvSpPr/>
          <p:nvPr/>
        </p:nvSpPr>
        <p:spPr>
          <a:xfrm>
            <a:off x="3346021" y="4325861"/>
            <a:ext cx="1809770" cy="439881"/>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Action Avail?</a:t>
            </a:r>
          </a:p>
        </p:txBody>
      </p:sp>
      <p:sp>
        <p:nvSpPr>
          <p:cNvPr id="147" name="Flowchart: Terminator 146">
            <a:extLst>
              <a:ext uri="{FF2B5EF4-FFF2-40B4-BE49-F238E27FC236}">
                <a16:creationId xmlns:a16="http://schemas.microsoft.com/office/drawing/2014/main" id="{C95588E3-CA94-4893-929C-D2E019AE71FB}"/>
              </a:ext>
            </a:extLst>
          </p:cNvPr>
          <p:cNvSpPr/>
          <p:nvPr/>
        </p:nvSpPr>
        <p:spPr>
          <a:xfrm>
            <a:off x="3838733" y="6149323"/>
            <a:ext cx="824344" cy="230583"/>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Stop</a:t>
            </a:r>
          </a:p>
        </p:txBody>
      </p:sp>
      <p:cxnSp>
        <p:nvCxnSpPr>
          <p:cNvPr id="149" name="Straight Arrow Connector 148">
            <a:extLst>
              <a:ext uri="{FF2B5EF4-FFF2-40B4-BE49-F238E27FC236}">
                <a16:creationId xmlns:a16="http://schemas.microsoft.com/office/drawing/2014/main" id="{DF4D933D-5A20-4470-BB87-EAFC9C887921}"/>
              </a:ext>
            </a:extLst>
          </p:cNvPr>
          <p:cNvCxnSpPr>
            <a:cxnSpLocks/>
            <a:stCxn id="7" idx="2"/>
            <a:endCxn id="5" idx="1"/>
          </p:cNvCxnSpPr>
          <p:nvPr/>
        </p:nvCxnSpPr>
        <p:spPr>
          <a:xfrm>
            <a:off x="4250905" y="2904567"/>
            <a:ext cx="0" cy="1237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6C1B7ACA-E931-4AB9-84B4-8890F6CFD8C4}"/>
              </a:ext>
            </a:extLst>
          </p:cNvPr>
          <p:cNvCxnSpPr>
            <a:cxnSpLocks/>
            <a:stCxn id="60" idx="2"/>
            <a:endCxn id="7" idx="0"/>
          </p:cNvCxnSpPr>
          <p:nvPr/>
        </p:nvCxnSpPr>
        <p:spPr>
          <a:xfrm>
            <a:off x="4250905" y="2558670"/>
            <a:ext cx="0" cy="115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EE01724D-2C3B-430E-A5A9-3B6ECDA328D8}"/>
              </a:ext>
            </a:extLst>
          </p:cNvPr>
          <p:cNvCxnSpPr>
            <a:cxnSpLocks/>
            <a:stCxn id="5" idx="4"/>
            <a:endCxn id="6" idx="0"/>
          </p:cNvCxnSpPr>
          <p:nvPr/>
        </p:nvCxnSpPr>
        <p:spPr>
          <a:xfrm>
            <a:off x="4250905" y="3299901"/>
            <a:ext cx="1" cy="128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F5C9F3FF-5635-4456-8985-3906C67DCC4B}"/>
              </a:ext>
            </a:extLst>
          </p:cNvPr>
          <p:cNvCxnSpPr>
            <a:cxnSpLocks/>
            <a:stCxn id="6" idx="2"/>
            <a:endCxn id="8" idx="0"/>
          </p:cNvCxnSpPr>
          <p:nvPr/>
        </p:nvCxnSpPr>
        <p:spPr>
          <a:xfrm>
            <a:off x="4250906" y="3868091"/>
            <a:ext cx="0" cy="117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C02B0198-135F-476B-A86F-707FB2799F10}"/>
              </a:ext>
            </a:extLst>
          </p:cNvPr>
          <p:cNvCxnSpPr>
            <a:cxnSpLocks/>
            <a:stCxn id="8" idx="2"/>
            <a:endCxn id="146" idx="0"/>
          </p:cNvCxnSpPr>
          <p:nvPr/>
        </p:nvCxnSpPr>
        <p:spPr>
          <a:xfrm>
            <a:off x="4250906" y="4205227"/>
            <a:ext cx="0" cy="120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29D25357-9AFF-43ED-BDDA-08273CAAEEF0}"/>
              </a:ext>
            </a:extLst>
          </p:cNvPr>
          <p:cNvCxnSpPr>
            <a:cxnSpLocks/>
            <a:stCxn id="146" idx="2"/>
            <a:endCxn id="41" idx="0"/>
          </p:cNvCxnSpPr>
          <p:nvPr/>
        </p:nvCxnSpPr>
        <p:spPr>
          <a:xfrm>
            <a:off x="4250906" y="4765742"/>
            <a:ext cx="1" cy="120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30CF9DEB-A068-4951-836B-F91691B7019C}"/>
              </a:ext>
            </a:extLst>
          </p:cNvPr>
          <p:cNvCxnSpPr>
            <a:cxnSpLocks/>
            <a:stCxn id="41" idx="2"/>
            <a:endCxn id="145" idx="0"/>
          </p:cNvCxnSpPr>
          <p:nvPr/>
        </p:nvCxnSpPr>
        <p:spPr>
          <a:xfrm flipH="1">
            <a:off x="4250906" y="5116958"/>
            <a:ext cx="1" cy="120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2EB9D190-1C99-424E-9E0B-515C253B9CB3}"/>
              </a:ext>
            </a:extLst>
          </p:cNvPr>
          <p:cNvCxnSpPr>
            <a:cxnSpLocks/>
            <a:stCxn id="145" idx="2"/>
            <a:endCxn id="54" idx="0"/>
          </p:cNvCxnSpPr>
          <p:nvPr/>
        </p:nvCxnSpPr>
        <p:spPr>
          <a:xfrm flipH="1">
            <a:off x="4250905" y="5677473"/>
            <a:ext cx="1" cy="120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939524A0-9430-454B-8CD0-29898E7B9CC0}"/>
              </a:ext>
            </a:extLst>
          </p:cNvPr>
          <p:cNvCxnSpPr>
            <a:cxnSpLocks/>
            <a:stCxn id="54" idx="2"/>
            <a:endCxn id="147" idx="0"/>
          </p:cNvCxnSpPr>
          <p:nvPr/>
        </p:nvCxnSpPr>
        <p:spPr>
          <a:xfrm>
            <a:off x="4250905" y="6028689"/>
            <a:ext cx="0" cy="120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6" name="Connector: Elbow 185">
            <a:extLst>
              <a:ext uri="{FF2B5EF4-FFF2-40B4-BE49-F238E27FC236}">
                <a16:creationId xmlns:a16="http://schemas.microsoft.com/office/drawing/2014/main" id="{AEEF3578-62E1-46B0-8F7F-401DEA3225F1}"/>
              </a:ext>
            </a:extLst>
          </p:cNvPr>
          <p:cNvCxnSpPr>
            <a:cxnSpLocks/>
            <a:stCxn id="6" idx="1"/>
            <a:endCxn id="7" idx="1"/>
          </p:cNvCxnSpPr>
          <p:nvPr/>
        </p:nvCxnSpPr>
        <p:spPr>
          <a:xfrm rot="10800000" flipH="1">
            <a:off x="3346021" y="2789277"/>
            <a:ext cx="312682" cy="858875"/>
          </a:xfrm>
          <a:prstGeom prst="bentConnector3">
            <a:avLst>
              <a:gd name="adj1" fmla="val -11271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Connector: Elbow 189">
            <a:extLst>
              <a:ext uri="{FF2B5EF4-FFF2-40B4-BE49-F238E27FC236}">
                <a16:creationId xmlns:a16="http://schemas.microsoft.com/office/drawing/2014/main" id="{C0C23EB5-6408-4C1A-B09F-9C1739AF3568}"/>
              </a:ext>
            </a:extLst>
          </p:cNvPr>
          <p:cNvCxnSpPr>
            <a:cxnSpLocks/>
            <a:stCxn id="146" idx="1"/>
            <a:endCxn id="7" idx="1"/>
          </p:cNvCxnSpPr>
          <p:nvPr/>
        </p:nvCxnSpPr>
        <p:spPr>
          <a:xfrm rot="10800000" flipH="1">
            <a:off x="3346021" y="2789276"/>
            <a:ext cx="312682" cy="1756526"/>
          </a:xfrm>
          <a:prstGeom prst="bentConnector3">
            <a:avLst>
              <a:gd name="adj1" fmla="val -158664"/>
            </a:avLst>
          </a:prstGeom>
        </p:spPr>
        <p:style>
          <a:lnRef idx="1">
            <a:schemeClr val="accent1"/>
          </a:lnRef>
          <a:fillRef idx="0">
            <a:schemeClr val="accent1"/>
          </a:fillRef>
          <a:effectRef idx="0">
            <a:schemeClr val="accent1"/>
          </a:effectRef>
          <a:fontRef idx="minor">
            <a:schemeClr val="tx1"/>
          </a:fontRef>
        </p:style>
      </p:cxnSp>
      <p:cxnSp>
        <p:nvCxnSpPr>
          <p:cNvPr id="194" name="Connector: Elbow 193">
            <a:extLst>
              <a:ext uri="{FF2B5EF4-FFF2-40B4-BE49-F238E27FC236}">
                <a16:creationId xmlns:a16="http://schemas.microsoft.com/office/drawing/2014/main" id="{F5DA54F9-945C-4D10-9D7A-2F7800716CB0}"/>
              </a:ext>
            </a:extLst>
          </p:cNvPr>
          <p:cNvCxnSpPr>
            <a:cxnSpLocks/>
            <a:stCxn id="145" idx="1"/>
            <a:endCxn id="7" idx="1"/>
          </p:cNvCxnSpPr>
          <p:nvPr/>
        </p:nvCxnSpPr>
        <p:spPr>
          <a:xfrm rot="10800000" flipH="1">
            <a:off x="3346021" y="2789277"/>
            <a:ext cx="312682" cy="2668257"/>
          </a:xfrm>
          <a:prstGeom prst="bentConnector3">
            <a:avLst>
              <a:gd name="adj1" fmla="val -204757"/>
            </a:avLst>
          </a:prstGeom>
        </p:spPr>
        <p:style>
          <a:lnRef idx="1">
            <a:schemeClr val="accent1"/>
          </a:lnRef>
          <a:fillRef idx="0">
            <a:schemeClr val="accent1"/>
          </a:fillRef>
          <a:effectRef idx="0">
            <a:schemeClr val="accent1"/>
          </a:effectRef>
          <a:fontRef idx="minor">
            <a:schemeClr val="tx1"/>
          </a:fontRef>
        </p:style>
      </p:cxnSp>
      <p:sp>
        <p:nvSpPr>
          <p:cNvPr id="205" name="TextBox 204">
            <a:extLst>
              <a:ext uri="{FF2B5EF4-FFF2-40B4-BE49-F238E27FC236}">
                <a16:creationId xmlns:a16="http://schemas.microsoft.com/office/drawing/2014/main" id="{D14C14CF-46B4-4087-A289-363C870B5B42}"/>
              </a:ext>
            </a:extLst>
          </p:cNvPr>
          <p:cNvSpPr txBox="1"/>
          <p:nvPr/>
        </p:nvSpPr>
        <p:spPr>
          <a:xfrm>
            <a:off x="3002673" y="3422035"/>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sp>
        <p:nvSpPr>
          <p:cNvPr id="206" name="TextBox 205">
            <a:extLst>
              <a:ext uri="{FF2B5EF4-FFF2-40B4-BE49-F238E27FC236}">
                <a16:creationId xmlns:a16="http://schemas.microsoft.com/office/drawing/2014/main" id="{72E4BB41-F9A8-4D79-8FC8-6EF73EEE026C}"/>
              </a:ext>
            </a:extLst>
          </p:cNvPr>
          <p:cNvSpPr txBox="1"/>
          <p:nvPr/>
        </p:nvSpPr>
        <p:spPr>
          <a:xfrm>
            <a:off x="3026763" y="4325861"/>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sp>
        <p:nvSpPr>
          <p:cNvPr id="207" name="TextBox 206">
            <a:extLst>
              <a:ext uri="{FF2B5EF4-FFF2-40B4-BE49-F238E27FC236}">
                <a16:creationId xmlns:a16="http://schemas.microsoft.com/office/drawing/2014/main" id="{14D4ED6F-5D0F-4892-8AE4-71A087A5DC76}"/>
              </a:ext>
            </a:extLst>
          </p:cNvPr>
          <p:cNvSpPr txBox="1"/>
          <p:nvPr/>
        </p:nvSpPr>
        <p:spPr>
          <a:xfrm>
            <a:off x="3002673" y="5223512"/>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sp>
        <p:nvSpPr>
          <p:cNvPr id="208" name="TextBox 207">
            <a:extLst>
              <a:ext uri="{FF2B5EF4-FFF2-40B4-BE49-F238E27FC236}">
                <a16:creationId xmlns:a16="http://schemas.microsoft.com/office/drawing/2014/main" id="{B95D9E1A-5E47-4AB9-BCC1-005895B5EACC}"/>
              </a:ext>
            </a:extLst>
          </p:cNvPr>
          <p:cNvSpPr txBox="1"/>
          <p:nvPr/>
        </p:nvSpPr>
        <p:spPr>
          <a:xfrm>
            <a:off x="3875021" y="3767678"/>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209" name="TextBox 208">
            <a:extLst>
              <a:ext uri="{FF2B5EF4-FFF2-40B4-BE49-F238E27FC236}">
                <a16:creationId xmlns:a16="http://schemas.microsoft.com/office/drawing/2014/main" id="{70007182-6D0C-400A-B56D-9B88C269AC7A}"/>
              </a:ext>
            </a:extLst>
          </p:cNvPr>
          <p:cNvSpPr txBox="1"/>
          <p:nvPr/>
        </p:nvSpPr>
        <p:spPr>
          <a:xfrm>
            <a:off x="3876152" y="4675071"/>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210" name="TextBox 209">
            <a:extLst>
              <a:ext uri="{FF2B5EF4-FFF2-40B4-BE49-F238E27FC236}">
                <a16:creationId xmlns:a16="http://schemas.microsoft.com/office/drawing/2014/main" id="{12C725B5-AD16-49CA-9E1A-66C8B3BC13EE}"/>
              </a:ext>
            </a:extLst>
          </p:cNvPr>
          <p:cNvSpPr txBox="1"/>
          <p:nvPr/>
        </p:nvSpPr>
        <p:spPr>
          <a:xfrm>
            <a:off x="3871442" y="5578864"/>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cxnSp>
        <p:nvCxnSpPr>
          <p:cNvPr id="216" name="Connector: Elbow 215">
            <a:extLst>
              <a:ext uri="{FF2B5EF4-FFF2-40B4-BE49-F238E27FC236}">
                <a16:creationId xmlns:a16="http://schemas.microsoft.com/office/drawing/2014/main" id="{CC3754A5-6093-4AE7-B3FD-798BE24790F1}"/>
              </a:ext>
            </a:extLst>
          </p:cNvPr>
          <p:cNvCxnSpPr>
            <a:cxnSpLocks/>
            <a:stCxn id="147" idx="3"/>
            <a:endCxn id="60" idx="3"/>
          </p:cNvCxnSpPr>
          <p:nvPr/>
        </p:nvCxnSpPr>
        <p:spPr>
          <a:xfrm flipV="1">
            <a:off x="4663077" y="2443379"/>
            <a:ext cx="12700" cy="3821236"/>
          </a:xfrm>
          <a:prstGeom prst="bentConnector3">
            <a:avLst>
              <a:gd name="adj1" fmla="val 704570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80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Pseudocode or Flowchart: </a:t>
            </a:r>
            <a:br>
              <a:rPr lang="en-US" sz="4000" dirty="0"/>
            </a:br>
            <a:r>
              <a:rPr lang="en-US" sz="4000" dirty="0"/>
              <a:t>Get an Item</a:t>
            </a:r>
          </a:p>
        </p:txBody>
      </p:sp>
      <p:sp>
        <p:nvSpPr>
          <p:cNvPr id="42" name="Flowchart: Data 41">
            <a:extLst>
              <a:ext uri="{FF2B5EF4-FFF2-40B4-BE49-F238E27FC236}">
                <a16:creationId xmlns:a16="http://schemas.microsoft.com/office/drawing/2014/main" id="{2DD22DCF-18C6-4031-9CB5-712C29EABA44}"/>
              </a:ext>
            </a:extLst>
          </p:cNvPr>
          <p:cNvSpPr/>
          <p:nvPr/>
        </p:nvSpPr>
        <p:spPr>
          <a:xfrm>
            <a:off x="3374349" y="3112985"/>
            <a:ext cx="2084552" cy="27155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Select Item</a:t>
            </a:r>
          </a:p>
        </p:txBody>
      </p:sp>
      <p:sp>
        <p:nvSpPr>
          <p:cNvPr id="43" name="Flowchart: Decision 42">
            <a:extLst>
              <a:ext uri="{FF2B5EF4-FFF2-40B4-BE49-F238E27FC236}">
                <a16:creationId xmlns:a16="http://schemas.microsoft.com/office/drawing/2014/main" id="{CE38AE62-4A38-404E-ADD5-2DDDEB832609}"/>
              </a:ext>
            </a:extLst>
          </p:cNvPr>
          <p:cNvSpPr/>
          <p:nvPr/>
        </p:nvSpPr>
        <p:spPr>
          <a:xfrm>
            <a:off x="3511740" y="3482541"/>
            <a:ext cx="1809770" cy="439881"/>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Valid?</a:t>
            </a:r>
          </a:p>
        </p:txBody>
      </p:sp>
      <p:sp>
        <p:nvSpPr>
          <p:cNvPr id="44" name="Flowchart: Process 43">
            <a:extLst>
              <a:ext uri="{FF2B5EF4-FFF2-40B4-BE49-F238E27FC236}">
                <a16:creationId xmlns:a16="http://schemas.microsoft.com/office/drawing/2014/main" id="{CC71AD63-A8A2-4E1C-AC7E-DB701F324EB7}"/>
              </a:ext>
            </a:extLst>
          </p:cNvPr>
          <p:cNvSpPr/>
          <p:nvPr/>
        </p:nvSpPr>
        <p:spPr>
          <a:xfrm>
            <a:off x="3824421" y="2130710"/>
            <a:ext cx="1184404" cy="23058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Enter Room</a:t>
            </a:r>
          </a:p>
        </p:txBody>
      </p:sp>
      <p:sp>
        <p:nvSpPr>
          <p:cNvPr id="45" name="Flowchart: Process 44">
            <a:extLst>
              <a:ext uri="{FF2B5EF4-FFF2-40B4-BE49-F238E27FC236}">
                <a16:creationId xmlns:a16="http://schemas.microsoft.com/office/drawing/2014/main" id="{7024DB11-35EE-415E-B69A-C0703561227B}"/>
              </a:ext>
            </a:extLst>
          </p:cNvPr>
          <p:cNvSpPr/>
          <p:nvPr/>
        </p:nvSpPr>
        <p:spPr>
          <a:xfrm>
            <a:off x="3590022" y="2787334"/>
            <a:ext cx="1653199" cy="23058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Display items </a:t>
            </a:r>
            <a:r>
              <a:rPr lang="en-US" sz="1200" dirty="0" err="1">
                <a:latin typeface="Times New Roman" panose="02020603050405020304" pitchFamily="18" charset="0"/>
                <a:cs typeface="Times New Roman" panose="02020603050405020304" pitchFamily="18" charset="0"/>
              </a:rPr>
              <a:t>availible</a:t>
            </a:r>
            <a:endParaRPr lang="en-US" sz="1200" dirty="0">
              <a:latin typeface="Times New Roman" panose="02020603050405020304" pitchFamily="18" charset="0"/>
              <a:cs typeface="Times New Roman" panose="02020603050405020304" pitchFamily="18" charset="0"/>
            </a:endParaRPr>
          </a:p>
        </p:txBody>
      </p:sp>
      <p:sp>
        <p:nvSpPr>
          <p:cNvPr id="46" name="Flowchart: Process 45">
            <a:extLst>
              <a:ext uri="{FF2B5EF4-FFF2-40B4-BE49-F238E27FC236}">
                <a16:creationId xmlns:a16="http://schemas.microsoft.com/office/drawing/2014/main" id="{6BE6AFEC-CF3D-4CCA-8258-483A468D53EC}"/>
              </a:ext>
            </a:extLst>
          </p:cNvPr>
          <p:cNvSpPr/>
          <p:nvPr/>
        </p:nvSpPr>
        <p:spPr>
          <a:xfrm>
            <a:off x="3683137" y="4025418"/>
            <a:ext cx="1466974" cy="31723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Ask to pick up item Y/N</a:t>
            </a:r>
          </a:p>
        </p:txBody>
      </p:sp>
      <p:sp>
        <p:nvSpPr>
          <p:cNvPr id="47" name="Flowchart: Process 46">
            <a:extLst>
              <a:ext uri="{FF2B5EF4-FFF2-40B4-BE49-F238E27FC236}">
                <a16:creationId xmlns:a16="http://schemas.microsoft.com/office/drawing/2014/main" id="{3D57B428-9DCF-49C4-9ABB-F7CF1328D020}"/>
              </a:ext>
            </a:extLst>
          </p:cNvPr>
          <p:cNvSpPr/>
          <p:nvPr/>
        </p:nvSpPr>
        <p:spPr>
          <a:xfrm>
            <a:off x="3527328" y="5372528"/>
            <a:ext cx="1772693" cy="2305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Perform Action</a:t>
            </a:r>
          </a:p>
        </p:txBody>
      </p:sp>
      <p:sp>
        <p:nvSpPr>
          <p:cNvPr id="48" name="Flowchart: Terminator 47">
            <a:extLst>
              <a:ext uri="{FF2B5EF4-FFF2-40B4-BE49-F238E27FC236}">
                <a16:creationId xmlns:a16="http://schemas.microsoft.com/office/drawing/2014/main" id="{ACAEEC5A-5FD3-4668-8889-EB1BCFDBBB7A}"/>
              </a:ext>
            </a:extLst>
          </p:cNvPr>
          <p:cNvSpPr/>
          <p:nvPr/>
        </p:nvSpPr>
        <p:spPr>
          <a:xfrm>
            <a:off x="4004450" y="1805312"/>
            <a:ext cx="824344" cy="230583"/>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Start</a:t>
            </a:r>
          </a:p>
        </p:txBody>
      </p:sp>
      <p:sp>
        <p:nvSpPr>
          <p:cNvPr id="49" name="Flowchart: Decision 48">
            <a:extLst>
              <a:ext uri="{FF2B5EF4-FFF2-40B4-BE49-F238E27FC236}">
                <a16:creationId xmlns:a16="http://schemas.microsoft.com/office/drawing/2014/main" id="{4B45300F-0429-496F-9267-538F0F33C1F9}"/>
              </a:ext>
            </a:extLst>
          </p:cNvPr>
          <p:cNvSpPr/>
          <p:nvPr/>
        </p:nvSpPr>
        <p:spPr>
          <a:xfrm>
            <a:off x="3508790" y="4825196"/>
            <a:ext cx="1809770" cy="439881"/>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Valid?</a:t>
            </a:r>
          </a:p>
        </p:txBody>
      </p:sp>
      <p:sp>
        <p:nvSpPr>
          <p:cNvPr id="51" name="Flowchart: Terminator 50">
            <a:extLst>
              <a:ext uri="{FF2B5EF4-FFF2-40B4-BE49-F238E27FC236}">
                <a16:creationId xmlns:a16="http://schemas.microsoft.com/office/drawing/2014/main" id="{48EE012E-8522-45D5-98F1-9B50E0357000}"/>
              </a:ext>
            </a:extLst>
          </p:cNvPr>
          <p:cNvSpPr/>
          <p:nvPr/>
        </p:nvSpPr>
        <p:spPr>
          <a:xfrm>
            <a:off x="4008479" y="6388850"/>
            <a:ext cx="824344" cy="230583"/>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Stop</a:t>
            </a:r>
          </a:p>
        </p:txBody>
      </p:sp>
      <p:sp>
        <p:nvSpPr>
          <p:cNvPr id="95" name="Flowchart: Process 94">
            <a:extLst>
              <a:ext uri="{FF2B5EF4-FFF2-40B4-BE49-F238E27FC236}">
                <a16:creationId xmlns:a16="http://schemas.microsoft.com/office/drawing/2014/main" id="{8C9E1B4C-341C-460D-9DAB-AB1E42F471A9}"/>
              </a:ext>
            </a:extLst>
          </p:cNvPr>
          <p:cNvSpPr/>
          <p:nvPr/>
        </p:nvSpPr>
        <p:spPr>
          <a:xfrm>
            <a:off x="3534303" y="5715593"/>
            <a:ext cx="1772693" cy="2305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Save Inventory</a:t>
            </a:r>
          </a:p>
        </p:txBody>
      </p:sp>
      <p:sp>
        <p:nvSpPr>
          <p:cNvPr id="97" name="Flowchart: Data 96">
            <a:extLst>
              <a:ext uri="{FF2B5EF4-FFF2-40B4-BE49-F238E27FC236}">
                <a16:creationId xmlns:a16="http://schemas.microsoft.com/office/drawing/2014/main" id="{8896629A-AAF3-4E86-B8C5-9C75C2E65469}"/>
              </a:ext>
            </a:extLst>
          </p:cNvPr>
          <p:cNvSpPr/>
          <p:nvPr/>
        </p:nvSpPr>
        <p:spPr>
          <a:xfrm>
            <a:off x="3371399" y="4448145"/>
            <a:ext cx="2084552" cy="27155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Input</a:t>
            </a:r>
          </a:p>
        </p:txBody>
      </p:sp>
      <p:sp>
        <p:nvSpPr>
          <p:cNvPr id="98" name="Flowchart: Process 97">
            <a:extLst>
              <a:ext uri="{FF2B5EF4-FFF2-40B4-BE49-F238E27FC236}">
                <a16:creationId xmlns:a16="http://schemas.microsoft.com/office/drawing/2014/main" id="{10AD746B-0A5A-4264-BDB3-387D9176BA83}"/>
              </a:ext>
            </a:extLst>
          </p:cNvPr>
          <p:cNvSpPr/>
          <p:nvPr/>
        </p:nvSpPr>
        <p:spPr>
          <a:xfrm>
            <a:off x="1767840" y="3587190"/>
            <a:ext cx="1463219" cy="2305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Output Invalid item</a:t>
            </a:r>
          </a:p>
        </p:txBody>
      </p:sp>
      <p:cxnSp>
        <p:nvCxnSpPr>
          <p:cNvPr id="100" name="Straight Arrow Connector 99">
            <a:extLst>
              <a:ext uri="{FF2B5EF4-FFF2-40B4-BE49-F238E27FC236}">
                <a16:creationId xmlns:a16="http://schemas.microsoft.com/office/drawing/2014/main" id="{ECDAAC3F-CCB9-43CE-ADA5-A4BEE54A3772}"/>
              </a:ext>
            </a:extLst>
          </p:cNvPr>
          <p:cNvCxnSpPr>
            <a:cxnSpLocks/>
            <a:stCxn id="43" idx="1"/>
            <a:endCxn id="98" idx="3"/>
          </p:cNvCxnSpPr>
          <p:nvPr/>
        </p:nvCxnSpPr>
        <p:spPr>
          <a:xfrm flipH="1" flipV="1">
            <a:off x="3231059" y="3702481"/>
            <a:ext cx="28068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E984FC87-569F-4A1F-931F-391E84011574}"/>
              </a:ext>
            </a:extLst>
          </p:cNvPr>
          <p:cNvCxnSpPr>
            <a:cxnSpLocks/>
            <a:stCxn id="98" idx="0"/>
            <a:endCxn id="162" idx="1"/>
          </p:cNvCxnSpPr>
          <p:nvPr/>
        </p:nvCxnSpPr>
        <p:spPr>
          <a:xfrm rot="5400000" flipH="1" flipV="1">
            <a:off x="2654040" y="2416810"/>
            <a:ext cx="1015790" cy="132497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74A04918-1978-4BDF-96BD-42038AD08F01}"/>
              </a:ext>
            </a:extLst>
          </p:cNvPr>
          <p:cNvCxnSpPr>
            <a:stCxn id="48" idx="2"/>
            <a:endCxn id="44" idx="0"/>
          </p:cNvCxnSpPr>
          <p:nvPr/>
        </p:nvCxnSpPr>
        <p:spPr>
          <a:xfrm>
            <a:off x="4416622" y="2035895"/>
            <a:ext cx="1" cy="94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137D12EC-C11D-44D0-9F59-46A8B4A12E03}"/>
              </a:ext>
            </a:extLst>
          </p:cNvPr>
          <p:cNvCxnSpPr>
            <a:cxnSpLocks/>
            <a:stCxn id="162" idx="2"/>
            <a:endCxn id="45" idx="0"/>
          </p:cNvCxnSpPr>
          <p:nvPr/>
        </p:nvCxnSpPr>
        <p:spPr>
          <a:xfrm>
            <a:off x="4416622" y="2686691"/>
            <a:ext cx="0" cy="100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23F17989-E07D-4008-A737-5D41772602A7}"/>
              </a:ext>
            </a:extLst>
          </p:cNvPr>
          <p:cNvCxnSpPr>
            <a:cxnSpLocks/>
            <a:stCxn id="45" idx="2"/>
            <a:endCxn id="42" idx="1"/>
          </p:cNvCxnSpPr>
          <p:nvPr/>
        </p:nvCxnSpPr>
        <p:spPr>
          <a:xfrm>
            <a:off x="4416622" y="3017917"/>
            <a:ext cx="3" cy="95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F15C444C-5E7B-4C39-B145-D0B9A567A9DE}"/>
              </a:ext>
            </a:extLst>
          </p:cNvPr>
          <p:cNvCxnSpPr>
            <a:cxnSpLocks/>
            <a:stCxn id="42" idx="4"/>
            <a:endCxn id="43" idx="0"/>
          </p:cNvCxnSpPr>
          <p:nvPr/>
        </p:nvCxnSpPr>
        <p:spPr>
          <a:xfrm>
            <a:off x="4416625" y="3384539"/>
            <a:ext cx="0" cy="98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41DA6090-9EA6-4034-9C21-858214350EC6}"/>
              </a:ext>
            </a:extLst>
          </p:cNvPr>
          <p:cNvCxnSpPr>
            <a:cxnSpLocks/>
            <a:stCxn id="43" idx="2"/>
            <a:endCxn id="46" idx="0"/>
          </p:cNvCxnSpPr>
          <p:nvPr/>
        </p:nvCxnSpPr>
        <p:spPr>
          <a:xfrm flipH="1">
            <a:off x="4416624" y="3922422"/>
            <a:ext cx="1" cy="102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76412CCC-1B7A-443E-A2CC-B2703732F5D4}"/>
              </a:ext>
            </a:extLst>
          </p:cNvPr>
          <p:cNvCxnSpPr>
            <a:cxnSpLocks/>
            <a:stCxn id="46" idx="2"/>
            <a:endCxn id="97" idx="1"/>
          </p:cNvCxnSpPr>
          <p:nvPr/>
        </p:nvCxnSpPr>
        <p:spPr>
          <a:xfrm flipH="1">
            <a:off x="4413675" y="4342648"/>
            <a:ext cx="2949" cy="105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AB46318B-4F40-419F-B676-AEBF2B1F3044}"/>
              </a:ext>
            </a:extLst>
          </p:cNvPr>
          <p:cNvCxnSpPr>
            <a:cxnSpLocks/>
            <a:stCxn id="97" idx="4"/>
            <a:endCxn id="49" idx="0"/>
          </p:cNvCxnSpPr>
          <p:nvPr/>
        </p:nvCxnSpPr>
        <p:spPr>
          <a:xfrm>
            <a:off x="4413675" y="4719699"/>
            <a:ext cx="0" cy="105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30480207-015F-4297-B736-65BCD92A6335}"/>
              </a:ext>
            </a:extLst>
          </p:cNvPr>
          <p:cNvCxnSpPr>
            <a:cxnSpLocks/>
            <a:stCxn id="49" idx="2"/>
            <a:endCxn id="47" idx="0"/>
          </p:cNvCxnSpPr>
          <p:nvPr/>
        </p:nvCxnSpPr>
        <p:spPr>
          <a:xfrm>
            <a:off x="4413675" y="5265077"/>
            <a:ext cx="0" cy="107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52F9972A-C88C-4DC2-B569-CB52D66BCAB2}"/>
              </a:ext>
            </a:extLst>
          </p:cNvPr>
          <p:cNvCxnSpPr>
            <a:cxnSpLocks/>
            <a:stCxn id="47" idx="2"/>
            <a:endCxn id="95" idx="0"/>
          </p:cNvCxnSpPr>
          <p:nvPr/>
        </p:nvCxnSpPr>
        <p:spPr>
          <a:xfrm>
            <a:off x="4413675" y="5603110"/>
            <a:ext cx="6975" cy="1124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35CE2D89-5722-4AA6-9918-1D8686AABFBA}"/>
              </a:ext>
            </a:extLst>
          </p:cNvPr>
          <p:cNvCxnSpPr>
            <a:cxnSpLocks/>
            <a:stCxn id="225" idx="2"/>
            <a:endCxn id="51" idx="0"/>
          </p:cNvCxnSpPr>
          <p:nvPr/>
        </p:nvCxnSpPr>
        <p:spPr>
          <a:xfrm>
            <a:off x="4420651" y="6284208"/>
            <a:ext cx="0" cy="104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2" name="Flowchart: Process 161">
            <a:extLst>
              <a:ext uri="{FF2B5EF4-FFF2-40B4-BE49-F238E27FC236}">
                <a16:creationId xmlns:a16="http://schemas.microsoft.com/office/drawing/2014/main" id="{390457D3-E6DB-4ECF-9BFF-ECC3B5BFE25F}"/>
              </a:ext>
            </a:extLst>
          </p:cNvPr>
          <p:cNvSpPr/>
          <p:nvPr/>
        </p:nvSpPr>
        <p:spPr>
          <a:xfrm>
            <a:off x="3824420" y="2456108"/>
            <a:ext cx="1184404" cy="230583"/>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Display Status</a:t>
            </a:r>
          </a:p>
        </p:txBody>
      </p:sp>
      <p:cxnSp>
        <p:nvCxnSpPr>
          <p:cNvPr id="166" name="Straight Arrow Connector 165">
            <a:extLst>
              <a:ext uri="{FF2B5EF4-FFF2-40B4-BE49-F238E27FC236}">
                <a16:creationId xmlns:a16="http://schemas.microsoft.com/office/drawing/2014/main" id="{5EC33FDF-4338-4E24-AE4A-316C703CD8F4}"/>
              </a:ext>
            </a:extLst>
          </p:cNvPr>
          <p:cNvCxnSpPr>
            <a:cxnSpLocks/>
            <a:stCxn id="44" idx="2"/>
            <a:endCxn id="162" idx="0"/>
          </p:cNvCxnSpPr>
          <p:nvPr/>
        </p:nvCxnSpPr>
        <p:spPr>
          <a:xfrm flipH="1">
            <a:off x="4416622" y="2361293"/>
            <a:ext cx="1" cy="94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8" name="Connector: Elbow 187">
            <a:extLst>
              <a:ext uri="{FF2B5EF4-FFF2-40B4-BE49-F238E27FC236}">
                <a16:creationId xmlns:a16="http://schemas.microsoft.com/office/drawing/2014/main" id="{F0710C2A-49DA-4C7E-A383-EA2F7E14A319}"/>
              </a:ext>
            </a:extLst>
          </p:cNvPr>
          <p:cNvCxnSpPr>
            <a:cxnSpLocks/>
            <a:stCxn id="238" idx="1"/>
            <a:endCxn id="162" idx="1"/>
          </p:cNvCxnSpPr>
          <p:nvPr/>
        </p:nvCxnSpPr>
        <p:spPr>
          <a:xfrm rot="10800000" flipH="1">
            <a:off x="1767840" y="2571401"/>
            <a:ext cx="2056580" cy="2464167"/>
          </a:xfrm>
          <a:prstGeom prst="bentConnector3">
            <a:avLst>
              <a:gd name="adj1" fmla="val -11116"/>
            </a:avLst>
          </a:prstGeom>
          <a:ln>
            <a:tailEnd type="triangle"/>
          </a:ln>
        </p:spPr>
        <p:style>
          <a:lnRef idx="1">
            <a:schemeClr val="accent1"/>
          </a:lnRef>
          <a:fillRef idx="0">
            <a:schemeClr val="accent1"/>
          </a:fillRef>
          <a:effectRef idx="0">
            <a:schemeClr val="accent1"/>
          </a:effectRef>
          <a:fontRef idx="minor">
            <a:schemeClr val="tx1"/>
          </a:fontRef>
        </p:style>
      </p:cxnSp>
      <p:sp>
        <p:nvSpPr>
          <p:cNvPr id="225" name="Flowchart: Process 224">
            <a:extLst>
              <a:ext uri="{FF2B5EF4-FFF2-40B4-BE49-F238E27FC236}">
                <a16:creationId xmlns:a16="http://schemas.microsoft.com/office/drawing/2014/main" id="{E6648A3C-08EF-4EAD-9041-8B58D30577D3}"/>
              </a:ext>
            </a:extLst>
          </p:cNvPr>
          <p:cNvSpPr/>
          <p:nvPr/>
        </p:nvSpPr>
        <p:spPr>
          <a:xfrm>
            <a:off x="3534304" y="6053626"/>
            <a:ext cx="1772693" cy="2305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Display Status</a:t>
            </a:r>
          </a:p>
        </p:txBody>
      </p:sp>
      <p:sp>
        <p:nvSpPr>
          <p:cNvPr id="234" name="TextBox 233">
            <a:extLst>
              <a:ext uri="{FF2B5EF4-FFF2-40B4-BE49-F238E27FC236}">
                <a16:creationId xmlns:a16="http://schemas.microsoft.com/office/drawing/2014/main" id="{67D98C24-8647-459F-ACB1-A4BDFF1830F3}"/>
              </a:ext>
            </a:extLst>
          </p:cNvPr>
          <p:cNvSpPr txBox="1"/>
          <p:nvPr/>
        </p:nvSpPr>
        <p:spPr>
          <a:xfrm>
            <a:off x="3197227" y="4814810"/>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sp>
        <p:nvSpPr>
          <p:cNvPr id="235" name="TextBox 234">
            <a:extLst>
              <a:ext uri="{FF2B5EF4-FFF2-40B4-BE49-F238E27FC236}">
                <a16:creationId xmlns:a16="http://schemas.microsoft.com/office/drawing/2014/main" id="{29B1AA60-3943-4FBE-995D-89CE9BB8198C}"/>
              </a:ext>
            </a:extLst>
          </p:cNvPr>
          <p:cNvSpPr txBox="1"/>
          <p:nvPr/>
        </p:nvSpPr>
        <p:spPr>
          <a:xfrm>
            <a:off x="3216067" y="3462994"/>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sp>
        <p:nvSpPr>
          <p:cNvPr id="236" name="TextBox 235">
            <a:extLst>
              <a:ext uri="{FF2B5EF4-FFF2-40B4-BE49-F238E27FC236}">
                <a16:creationId xmlns:a16="http://schemas.microsoft.com/office/drawing/2014/main" id="{A5213D25-3F68-4990-B5CC-1A90C523369C}"/>
              </a:ext>
            </a:extLst>
          </p:cNvPr>
          <p:cNvSpPr txBox="1"/>
          <p:nvPr/>
        </p:nvSpPr>
        <p:spPr>
          <a:xfrm>
            <a:off x="3958860" y="3815698"/>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237" name="TextBox 236">
            <a:extLst>
              <a:ext uri="{FF2B5EF4-FFF2-40B4-BE49-F238E27FC236}">
                <a16:creationId xmlns:a16="http://schemas.microsoft.com/office/drawing/2014/main" id="{9E1118B1-5334-4EB0-93BD-79CFA6E47566}"/>
              </a:ext>
            </a:extLst>
          </p:cNvPr>
          <p:cNvSpPr txBox="1"/>
          <p:nvPr/>
        </p:nvSpPr>
        <p:spPr>
          <a:xfrm>
            <a:off x="3950733" y="5150858"/>
            <a:ext cx="4629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238" name="Flowchart: Process 237">
            <a:extLst>
              <a:ext uri="{FF2B5EF4-FFF2-40B4-BE49-F238E27FC236}">
                <a16:creationId xmlns:a16="http://schemas.microsoft.com/office/drawing/2014/main" id="{300BC0AD-6769-49D1-AE92-B80E15721A8A}"/>
              </a:ext>
            </a:extLst>
          </p:cNvPr>
          <p:cNvSpPr/>
          <p:nvPr/>
        </p:nvSpPr>
        <p:spPr>
          <a:xfrm>
            <a:off x="1767840" y="4920276"/>
            <a:ext cx="1463219" cy="2305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Times New Roman" panose="02020603050405020304" pitchFamily="18" charset="0"/>
                <a:cs typeface="Times New Roman" panose="02020603050405020304" pitchFamily="18" charset="0"/>
              </a:rPr>
              <a:t>Output Invalid input</a:t>
            </a:r>
          </a:p>
        </p:txBody>
      </p:sp>
      <p:cxnSp>
        <p:nvCxnSpPr>
          <p:cNvPr id="242" name="Straight Arrow Connector 241">
            <a:extLst>
              <a:ext uri="{FF2B5EF4-FFF2-40B4-BE49-F238E27FC236}">
                <a16:creationId xmlns:a16="http://schemas.microsoft.com/office/drawing/2014/main" id="{94A74DF1-1AC2-46E1-9FA1-4AB4EDACABD2}"/>
              </a:ext>
            </a:extLst>
          </p:cNvPr>
          <p:cNvCxnSpPr>
            <a:cxnSpLocks/>
            <a:stCxn id="49" idx="1"/>
            <a:endCxn id="238" idx="3"/>
          </p:cNvCxnSpPr>
          <p:nvPr/>
        </p:nvCxnSpPr>
        <p:spPr>
          <a:xfrm flipH="1" flipV="1">
            <a:off x="3231059" y="5035567"/>
            <a:ext cx="277731" cy="9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13484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ED95EB-3526-4CE7-8060-15AB3204068D}">
  <ds:schemaRefs>
    <ds:schemaRef ds:uri="http://purl.org/dc/terms/"/>
    <ds:schemaRef ds:uri="http://schemas.microsoft.com/office/2006/documentManagement/types"/>
    <ds:schemaRef ds:uri="http://schemas.openxmlformats.org/package/2006/metadata/core-properties"/>
    <ds:schemaRef ds:uri="http://www.w3.org/XML/1998/namespace"/>
    <ds:schemaRef ds:uri="http://schemas.microsoft.com/office/infopath/2007/PartnerControls"/>
    <ds:schemaRef ds:uri="http://purl.org/dc/elements/1.1/"/>
    <ds:schemaRef ds:uri="http://purl.org/dc/dcmitype/"/>
    <ds:schemaRef ds:uri="http://schemas.microsoft.com/office/2006/metadata/properties"/>
  </ds:schemaRefs>
</ds:datastoreItem>
</file>

<file path=customXml/itemProps2.xml><?xml version="1.0" encoding="utf-8"?>
<ds:datastoreItem xmlns:ds="http://schemas.openxmlformats.org/officeDocument/2006/customXml" ds:itemID="{DCE51B33-765F-48BE-BF7D-D076854422A4}">
  <ds:schemaRefs>
    <ds:schemaRef ds:uri="http://schemas.microsoft.com/sharepoint/v3/contenttype/forms"/>
  </ds:schemaRefs>
</ds:datastoreItem>
</file>

<file path=customXml/itemProps3.xml><?xml version="1.0" encoding="utf-8"?>
<ds:datastoreItem xmlns:ds="http://schemas.openxmlformats.org/officeDocument/2006/customXml" ds:itemID="{4080227C-3B9D-4C84-BCF0-9C742F7478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Facet</Template>
  <TotalTime>2462</TotalTime>
  <Words>374</Words>
  <Application>Microsoft Office PowerPoint</Application>
  <PresentationFormat>Widescreen</PresentationFormat>
  <Paragraphs>77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Times New Roman</vt:lpstr>
      <vt:lpstr>Trebuchet MS</vt:lpstr>
      <vt:lpstr>Wingdings 3</vt:lpstr>
      <vt:lpstr>Facet</vt:lpstr>
      <vt:lpstr>M.O.M Text Based Game Presentation</vt:lpstr>
      <vt:lpstr>Storyboard: Description</vt:lpstr>
      <vt:lpstr>Storyboard: Map</vt:lpstr>
      <vt:lpstr>Pseudocode or Flowchart:  Move Between Rooms</vt:lpstr>
      <vt:lpstr>Pseudocode or Flowchart:  Get an Item</vt:lpstr>
    </vt:vector>
  </TitlesOfParts>
  <Company>SNHU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140 Design Presentation Template</dc:title>
  <dc:creator>Gentile, Amy</dc:creator>
  <cp:lastModifiedBy>Daniel Santiago</cp:lastModifiedBy>
  <cp:revision>34</cp:revision>
  <dcterms:created xsi:type="dcterms:W3CDTF">2020-07-28T16:50:56Z</dcterms:created>
  <dcterms:modified xsi:type="dcterms:W3CDTF">2026-02-09T04:44:39Z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0x01010019267F6D1A260A4394C18F5AF72445EA</vt:lpwstr>
  </property>
</Properties>
</file>